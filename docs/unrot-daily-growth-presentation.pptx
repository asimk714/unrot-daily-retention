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I'm presenting Unrot Daily, a product engineered to solve one of the most persistent challenges in digital professional education: early learner drop-off.</a:t>
            </a:r>
          </a:p>
          <a:p/>
          <a:p>
            <a:r>
              <a:t>Modern professionals know they need to keep pace with generative AI, but traditional learning formats demand time they simply don't have. Unrot Daily turns this around by delivering focused 5-minute daily modules tailored specifically to a learner's workplace role, reinforced with immediate practical applications and forward-looking re-entry mechanics.</a:t>
            </a:r>
          </a:p>
          <a:p/>
          <a:p>
            <a:r>
              <a:t>Over the next 15 minutes, I'll walk through the user problem, our behavioral insights, a live prototype walkthrough, our calendar-day retention measurement framework, our controlled experiment plan, and our transparent technical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examine why traditional upskilling fails knowledge workers. When professionals decide to learn AI, they typically face two extremes.</a:t>
            </a:r>
          </a:p>
          <a:p/>
          <a:p>
            <a:r>
              <a:t>On one end are traditional online courses: 40-minute lectures and extensive assignments. Even the most ambitious workers struggle to protect a 45-minute block every day. They complete session one on Sunday, miss Monday due to meetings, and by Wednesday the habit is dead.</a:t>
            </a:r>
          </a:p>
          <a:p/>
          <a:p>
            <a:r>
              <a:t>On the other end are newsletters and social feeds. They're quick, but they're passive, fragmented, and rarely connect directly to the user's specific day-to-day job duties.</a:t>
            </a:r>
          </a:p>
          <a:p/>
          <a:p>
            <a:r>
              <a:t>Crucially, neither model solves the re-entry problem: what brings the learner back tomorrow morning at 8:00 AM? Without an intentional next-day bridge, retention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solve this drop-off, our product design relies on a specific behavioral insight: habit formation doesn't require more content; it requires a tighter, more rewarding loop.</a:t>
            </a:r>
          </a:p>
          <a:p/>
          <a:p>
            <a:r>
              <a:t>First, we eliminate barrier to entry: 5 minutes fits into morning coffee or the transition between meetings.</a:t>
            </a:r>
          </a:p>
          <a:p/>
          <a:p>
            <a:r>
              <a:t>Second, we provide an immediate win: not theoretical trivia, but an applied workplace pattern—like how a product manager reviews an AI brief or how a software engineer prompts for unit tests.</a:t>
            </a:r>
          </a:p>
          <a:p/>
          <a:p>
            <a:r>
              <a:t>Third, and most importantly for retention: we introduce the 'tomorrow preview' at the exact peak of accomplishment. When a user completes Day 1, we don't say 'goodbye'. We celebrate their completion and immediately show them what Day 2 unlocks. Pairing that curiosity with a user-selected reminder hour completes the re-entry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Unrot Daily translates that behavioral model into a working product.</a:t>
            </a:r>
          </a:p>
          <a:p/>
          <a:p>
            <a:r>
              <a:t>When a learner arrives, they aren't asked to browse a massive course catalog. Instead, our goal-based onboarding asks three simple questions: What is your role? What is your primary learning goal? What is your AI experience level?</a:t>
            </a:r>
          </a:p>
          <a:p/>
          <a:p>
            <a:r>
              <a:t>In less than 30 seconds, the system generates a tailored 5-day curriculum path.</a:t>
            </a:r>
          </a:p>
          <a:p/>
          <a:p>
            <a:r>
              <a:t>Each daily session takes approximately five minutes. It contains two or three concise reading sections, a highlighted real-world practical example, and a 1-question knowledge check to prove mastery.</a:t>
            </a:r>
          </a:p>
          <a:p/>
          <a:p>
            <a:r>
              <a:t>Once finished, the learner lands on our completion view, which pairs their accomplishment with tomorrow's preview and allows them to configure their daily reminder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follow the complete learner lifecycle through the application.</a:t>
            </a:r>
          </a:p>
          <a:p/>
          <a:p>
            <a:r>
              <a:t>On Day 0, the user lands on our homepage, reviews our value pillars, and launches onboarding. They select their role—say, Product Manager—and their goal of using AI more effectively at work.</a:t>
            </a:r>
          </a:p>
          <a:p/>
          <a:p>
            <a:r>
              <a:t>They immediately see their personalized curriculum plan on /plan. Clicking 'Start today's lesson' opens the interactive reader. The learner reads two concise sections explaining AI brief evaluation, inspects a practical example, and answers a knowledge check question.</a:t>
            </a:r>
          </a:p>
          <a:p/>
          <a:p>
            <a:r>
              <a:t>Upon submitting, they are redirected to /learn/complete. Here, they receive clear visual validation: 'Day 1 Complete!', see tomorrow's Day 2 topic, and can confirm their morning reminder hour.</a:t>
            </a:r>
          </a:p>
          <a:p/>
          <a:p>
            <a:r>
              <a:t>When they return on Day 1, the dashboard greets them by name, shows their 20% path completion, and presents a prominent one-click button to launch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clickable Figma prototype—this is a fully implemented, production-structured Next.js application.</a:t>
            </a:r>
          </a:p>
          <a:p/>
          <a:p>
            <a:r>
              <a:t>On screen you see our dual-theme implementation. On the left is our Light mode showing the daily lesson reader: notice how the practical example and knowledge check provide clean typography, clear hierarchy, and polite ARIA status feedback.</a:t>
            </a:r>
          </a:p>
          <a:p/>
          <a:p>
            <a:r>
              <a:t>On the right is our Dark mode implementation displaying the returning learner dashboard on /home. When the user returns on Day 1, the interface greets them, displays their 20% progress indicator, and presents a one-click resumption CTA.</a:t>
            </a:r>
          </a:p>
          <a:p/>
          <a:p>
            <a:r>
              <a:t>All surfaces are governed by centralized CSS semantic tokens—primary blue, slate neutral surfaces, and orange accents—persisted via localStorage with a blocking script that eliminates theme flickering.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examine our growth measurement discipline. Our retention hypothesis states: 'If users receive a relevant first lesson, see tomorrow’s value, and can optionally set a reminder, more users will return on the next calendar day.'</a:t>
            </a:r>
          </a:p>
          <a:p/>
          <a:p>
            <a:r>
              <a:t>To test this honestly, we must define D1 retention with mathematical rigor. Many teams use rolling 24-hour windows. But rolling windows create severe distortions: a user who signs up at 11:00 PM and returns at 8:00 AM the next morning is penalized because 24 hours haven't elapsed, whereas someone returning 25 hours later on the same day counts as D1.</a:t>
            </a:r>
          </a:p>
          <a:p/>
          <a:p>
            <a:r>
              <a:t>In Unrot Daily, D1 is strictly calendar-day based in the user's local timezone. A cohort begins when first_session_started is recorded. A user is retained if and only if they perform a qualifying action on calendar date D+1.</a:t>
            </a:r>
          </a:p>
          <a:p/>
          <a:p>
            <a:r>
              <a:t>Crucially, our prototype's simulation feature is completely walled off: demo preview actions never emit session_returned_d1 and cannot contaminate the cohort table. Furthermore, cohorts younger than 48 hours are flagged as incomplete so in-flight days don't corrupt the D1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prove our hypothesis? We designed an A/B experimentation framework ready for production deployment.</a:t>
            </a:r>
          </a:p>
          <a:p/>
          <a:p>
            <a:r>
              <a:t>The Control group receives basic onboarding and a generic upskilling track. When they complete Day 1, they see a simple 'Session finished' screen with no peek into tomorrow and no option to schedule a reminder.</a:t>
            </a:r>
          </a:p>
          <a:p/>
          <a:p>
            <a:r>
              <a:t>The Treatment group receives the complete Unrot Daily loop: 3-point calibration, tailored curriculum, tomorrow's preview card, and the morning reminder prompt.</a:t>
            </a:r>
          </a:p>
          <a:p/>
          <a:p>
            <a:r>
              <a:t>Our primary metric is calendar-day D1 retention. We also track secondary funnel health: onboarding completion, lesson completion, and reminder opt-in.</a:t>
            </a:r>
          </a:p>
          <a:p/>
          <a:p>
            <a:r>
              <a:t>Just as importantly, we monitor guardrails: does 3-question onboarding increase drop-off compared to 1 question? Do users immediately disable reminders?</a:t>
            </a:r>
          </a:p>
          <a:p/>
          <a:p>
            <a:r>
              <a:t>Crucially, we emphasize that sample sizing must be calculated before launching the experiment based on baseline variance, rather than peeking or declaring early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beyond the prototype, we have mapped out a structured, five-phase growth roadmap.</a:t>
            </a:r>
          </a:p>
          <a:p/>
          <a:p>
            <a:r>
              <a:t>Phase 1 is about validating the core habit in production: migrating from local SQLite to hosted PostgreSQL, replacing demo session cookies with secure OAuth, and launching the live randomized controlled trial.</a:t>
            </a:r>
          </a:p>
          <a:p/>
          <a:p>
            <a:r>
              <a:t>Phase 2 activates real communication channels: turning reminder preferences into actual scheduled morning emails and web push notifications.</a:t>
            </a:r>
          </a:p>
          <a:p/>
          <a:p>
            <a:r>
              <a:t>Phase 3 focuses on compounding retention through streak counters, completion certificates, and expanding curriculum to 10 specialized tracks.</a:t>
            </a:r>
          </a:p>
          <a:p/>
          <a:p>
            <a:r>
              <a:t>Phase 4 scales the product into B2B enterprise teams: multi-tenant workspaces, Slack/Teams bots, and aggregated team literacy analytics.</a:t>
            </a:r>
          </a:p>
          <a:p/>
          <a:p>
            <a:r>
              <a:t>Finally, Phase 5 introduces custom organizational curriculum authoring and LMS integrations for enterprise learning and development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I want to be completely transparent about where the prototype stands today.</a:t>
            </a:r>
          </a:p>
          <a:p/>
          <a:p>
            <a:r>
              <a:t>We have built a robust, verified proof of concept. All 35 automated tests pass, linting is spotless, our Turbopack production build compiles in 1.2 seconds, and all seven user-facing routes have been verified through end-to-end browser audits.</a:t>
            </a:r>
          </a:p>
          <a:p/>
          <a:p>
            <a:r>
              <a:t>But we maintain strict engineering and scientific honesty about our boundaries:</a:t>
            </a:r>
          </a:p>
          <a:p>
            <a:r>
              <a:t>First, our demo runs on local SQLite with a lightweight demo cookie.</a:t>
            </a:r>
          </a:p>
          <a:p>
            <a:r>
              <a:t>Second, we record reminder preferences, but we do not deliver real emails or push notifications.</a:t>
            </a:r>
          </a:p>
          <a:p>
            <a:r>
              <a:t>Third, our analytics dashboard aggregates local database records, not third-party pipelines.</a:t>
            </a:r>
          </a:p>
          <a:p>
            <a:r>
              <a:t>And most importantly, we do not claim a proven retention increase—we have built the instrument to measure it, but the hypothesis must be tested on live users.</a:t>
            </a:r>
          </a:p>
          <a:p/>
          <a:p>
            <a:r>
              <a:t>Our immediate next steps are clear: provision hosted PostgreSQL, wire up real authentication and notification services, calculate our sample size, and launch the experiment.</a:t>
            </a:r>
          </a:p>
          <a:p/>
          <a:p>
            <a:r>
              <a:t>Thank you, and I look forward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583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ENTERPRISE LEARNING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Unrot Daily</a:t>
            </a:r>
          </a:p>
          <a:p>
            <a:pPr>
              <a:spcBef>
                <a:spcPts val="400"/>
              </a:spcBef>
              <a:defRPr sz="2000" b="1">
                <a:solidFill>
                  <a:srgbClr val="2563EB"/>
                </a:solidFill>
                <a:latin typeface="Arial"/>
              </a:defRPr>
            </a:pPr>
            <a:r>
              <a:t>Building a Five-Minute AI Learning Habit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 retention-engineered micro-learning companion turning fast-moving AI literacy into an effortless, daily workplace habit.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58521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Target Audience: </a:t>
            </a:r>
            <a:r>
              <a:rPr b="0">
                <a:solidFill>
                  <a:srgbClr val="1E293B"/>
                </a:solidFill>
              </a:rPr>
              <a:t>Product Reviewers, Design Reviewers, Technical Stakeholders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Core Mechanism: </a:t>
            </a:r>
            <a:r>
              <a:rPr b="0">
                <a:solidFill>
                  <a:srgbClr val="1E293B"/>
                </a:solidFill>
              </a:rPr>
              <a:t>5-minute focused daily lessons + practical example + next-day preview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Prototype Tech: </a:t>
            </a:r>
            <a:r>
              <a:rPr b="0">
                <a:solidFill>
                  <a:srgbClr val="1E293B"/>
                </a:solidFill>
              </a:rPr>
              <a:t>Next.js App Router, SQLite, Prisma ORM, Semantic Token Theming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Verification Status: </a:t>
            </a:r>
            <a:r>
              <a:rPr b="0">
                <a:solidFill>
                  <a:srgbClr val="1E293B"/>
                </a:solidFill>
              </a:rPr>
              <a:t>35/35 automated tests passing; Turbopack production build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731520"/>
            <a:ext cx="384048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0" y="1005840"/>
            <a:ext cx="329184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PRODUCT INTERFACE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Day 1: AI Opportunity Framing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Track: Product Manager Core</a:t>
            </a:r>
            <a:br/>
            <a:r>
              <a:t>Estimated Time: 5 mins</a:t>
            </a:r>
            <a:br/>
            <a:r>
              <a:t>Status: Ready to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17520"/>
            <a:ext cx="29260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Start Today's Lesson 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3192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1F5F9"/>
                </a:solidFill>
                <a:latin typeface="Arial"/>
              </a:defRPr>
            </a:pPr>
            <a:r>
              <a:t>Tomorrow's Preview (Dark Mode)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Day 2: Evaluating AI Briefs</a:t>
            </a:r>
            <a:br/>
            <a:r>
              <a:t>Reminder: 08:00 AM (Auto-timezone)</a:t>
            </a:r>
            <a:br/>
            <a:r>
              <a:t>Status: Locked until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Upskilling Dilemma: High Ambition, Rapid Abandonment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Traditional online courses and unstructured social feeds fail working professionals due to time friction and lack of daily re-entry mechanics.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B91C1C"/>
                </a:solidFill>
                <a:latin typeface="Arial"/>
              </a:defRPr>
            </a:pPr>
            <a:r>
              <a:t>FAILURE MODE 1: COGNITIVE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71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Traditional Long-Form MOOCs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Excessive Commitment: </a:t>
            </a:r>
            <a:r>
              <a:rPr b="0">
                <a:solidFill>
                  <a:srgbClr val="1E293B"/>
                </a:solidFill>
              </a:rPr>
              <a:t>Requires 30-60 minute calendar blocks impossible to sustain amidst daily meetings.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Severe D1 Drop-Off: </a:t>
            </a:r>
            <a:r>
              <a:rPr b="0">
                <a:solidFill>
                  <a:srgbClr val="1E293B"/>
                </a:solidFill>
              </a:rPr>
              <a:t>High weekend enthusiasm dissolves by Tuesday when regular workload intervenes.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Theoretical Drift: </a:t>
            </a:r>
            <a:r>
              <a:rPr b="0">
                <a:solidFill>
                  <a:srgbClr val="1E293B"/>
                </a:solidFill>
              </a:rPr>
              <a:t>Abstract math and academic trivia detached from immediate workplace utility.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Result: </a:t>
            </a:r>
            <a:r>
              <a:rPr b="0">
                <a:solidFill>
                  <a:srgbClr val="1E293B"/>
                </a:solidFill>
              </a:rPr>
              <a:t>90%+ abandonment rate within the first 48 hours of enrolment.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297180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B91C1C"/>
                </a:solidFill>
                <a:latin typeface="Arial"/>
              </a:defRPr>
            </a:pPr>
            <a:r>
              <a:t>FAILURE MODE 2: NOISE &amp; SHALLOWNESS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2971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Unstructured Feeds &amp; Newsletters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Fragmented Snacking: </a:t>
            </a:r>
            <a:r>
              <a:rPr b="0">
                <a:solidFill>
                  <a:srgbClr val="1E293B"/>
                </a:solidFill>
              </a:rPr>
              <a:t>Passive consumption of hot takes without structured skill scaffolding.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Accountability: </a:t>
            </a:r>
            <a:r>
              <a:rPr b="0">
                <a:solidFill>
                  <a:srgbClr val="1E293B"/>
                </a:solidFill>
              </a:rPr>
              <a:t>No interactive checks, no synthesis, and no validation of comprehension.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Context Void: </a:t>
            </a:r>
            <a:r>
              <a:rPr b="0">
                <a:solidFill>
                  <a:srgbClr val="1E293B"/>
                </a:solidFill>
              </a:rPr>
              <a:t>Generic AI headlines that don't match specific PM, engineer, or analyst workflows.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Result: </a:t>
            </a:r>
            <a:r>
              <a:rPr b="0">
                <a:solidFill>
                  <a:srgbClr val="1E293B"/>
                </a:solidFill>
              </a:rPr>
              <a:t>Illusion of learning with zero durable skill retention.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3756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2971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THE OPPORTUNITY: UNROT DAILY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2971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5-Minute Re-Entry Habit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Protected Micro-Window: </a:t>
            </a:r>
            <a:r>
              <a:rPr b="0">
                <a:solidFill>
                  <a:srgbClr val="1E293B"/>
                </a:solidFill>
              </a:rPr>
              <a:t>Strict 5-minute cap fits effortlessly into morning coffee or between meetings.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Applied Workplace Utility: </a:t>
            </a:r>
            <a:r>
              <a:rPr b="0">
                <a:solidFill>
                  <a:srgbClr val="1E293B"/>
                </a:solidFill>
              </a:rPr>
              <a:t>Every single lesson features an immediate enterprise application.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Intentional Re-Entry Bridge: </a:t>
            </a:r>
            <a:r>
              <a:rPr b="0">
                <a:solidFill>
                  <a:srgbClr val="1E293B"/>
                </a:solidFill>
              </a:rPr>
              <a:t>Curiosity-sparking tomorrow preview + user-chosen morning prompt.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Outcome: </a:t>
            </a:r>
            <a:r>
              <a:rPr b="0">
                <a:solidFill>
                  <a:srgbClr val="1E293B"/>
                </a:solidFill>
              </a:rPr>
              <a:t>Sustainable daily habit engineered specifically for Day 1 return.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BEHAVIORAL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Retention Loop: Winning Long-Term Habit on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Sustainable habits require a frictionless first-session win followed immediately by forward curiosity and user-controlled timing.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926080"/>
            <a:ext cx="3566160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0040"/>
          <a:lstStyle/>
          <a:p>
            <a:pPr algn="ctr">
              <a:defRPr sz="1000" b="1">
                <a:solidFill>
                  <a:srgbClr val="BFDBFE"/>
                </a:solidFill>
                <a:latin typeface="Arial"/>
              </a:defRPr>
            </a:pPr>
            <a:r>
              <a:t>CORE GOAL</a:t>
            </a:r>
          </a:p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Consistent Calendar-Day</a:t>
            </a:r>
            <a:br/>
            <a:r>
              <a:t>D1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00200"/>
            <a:ext cx="4114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1. CALIBRATED ONBOARDING (30s)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3-question role &amp; goal calibration generates tailored 5-day curriculum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2. FOCUSED 5-MIN LESSON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Bite-sized reading sections</a:t>
            </a:r>
            <a:br/>
            <a:r>
              <a:t>• Practical workplace example</a:t>
            </a:r>
            <a:br/>
            <a:r>
              <a:t>• 1-question interactive mastery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800600"/>
            <a:ext cx="4114800" cy="13716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3. IMMEDIATE WIN &amp; TOMORROW PREVIEW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Instant completion milestone + forward preview of Day 2's topic sparks curious anticipation.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4. USER-SCHEDULED PROMPT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Learner chooses morning study hour</a:t>
            </a:r>
            <a:br/>
            <a:r>
              <a:t>• Timezone auto-detected locally</a:t>
            </a:r>
            <a:br/>
            <a:r>
              <a:t>• Returning dashboard ready on next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PRODUCT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Unrot Daily: Personalized, Micro-Sized, Habit-Forming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Tailored 5-minute daily AI lessons delivered through an enterprise-grade interface built for daily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1. CALIBRATE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Goal-Based Wizard: </a:t>
            </a:r>
            <a:r>
              <a:rPr b="0">
                <a:solidFill>
                  <a:srgbClr val="1E293B"/>
                </a:solidFill>
              </a:rPr>
              <a:t>3-question flow capturing professional role, primary learning goal, and current AI familiarity.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Deterministic Tracks: </a:t>
            </a:r>
            <a:r>
              <a:rPr b="0">
                <a:solidFill>
                  <a:srgbClr val="1E293B"/>
                </a:solidFill>
              </a:rPr>
              <a:t>Matches to 3 tailored curriculum paths: Product Managers, Software Engineers, General Professionals.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Cold-Start Friction: </a:t>
            </a:r>
            <a:r>
              <a:rPr b="0">
                <a:solidFill>
                  <a:srgbClr val="1E293B"/>
                </a:solidFill>
              </a:rPr>
              <a:t>No account creation wall or credit card barrier before initial lesson access.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Structured Timeline: </a:t>
            </a:r>
            <a:r>
              <a:rPr b="0">
                <a:solidFill>
                  <a:srgbClr val="1E293B"/>
                </a:solidFill>
              </a:rPr>
              <a:t>Clear 5-day progression establishing transparent daily expectations on /plan.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2. LEARN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Strict 5-Minute Reading: </a:t>
            </a:r>
            <a:r>
              <a:rPr b="0">
                <a:solidFill>
                  <a:srgbClr val="1E293B"/>
                </a:solidFill>
              </a:rPr>
              <a:t>2-3 modular sections written for clarity, pace, and cognitive retention.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Practical Example Panel: </a:t>
            </a:r>
            <a:r>
              <a:rPr b="0">
                <a:solidFill>
                  <a:srgbClr val="1E293B"/>
                </a:solidFill>
              </a:rPr>
              <a:t>Highlighted workplace scenario (e.g., prompt design, AI PRD review, code generation).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Knowledge Check: </a:t>
            </a:r>
            <a:r>
              <a:rPr b="0">
                <a:solidFill>
                  <a:srgbClr val="1E293B"/>
                </a:solidFill>
              </a:rPr>
              <a:t>1 targeted quiz question with instantaneous, polite ARIA validation.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Idempotent Progress: </a:t>
            </a:r>
            <a:r>
              <a:rPr b="0">
                <a:solidFill>
                  <a:srgbClr val="1E293B"/>
                </a:solidFill>
              </a:rPr>
              <a:t>Robust completion state recording preventing double-credit or progress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A580C"/>
                </a:solidFill>
                <a:latin typeface="Arial"/>
              </a:defRPr>
            </a:pPr>
            <a:r>
              <a:t>3. RETURN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Tomorrow's Preview Card: </a:t>
            </a:r>
            <a:r>
              <a:rPr b="0">
                <a:solidFill>
                  <a:srgbClr val="1E293B"/>
                </a:solidFill>
              </a:rPr>
              <a:t>Shows title, summary, and takeaway for Day 2 at the exact moment of Day 1 completion.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Reminder Preferences: </a:t>
            </a:r>
            <a:r>
              <a:rPr b="0">
                <a:solidFill>
                  <a:srgbClr val="1E293B"/>
                </a:solidFill>
              </a:rPr>
              <a:t>Optional morning study hour (e.g., 08:00 AM) with automatic local timezone detection.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Returning Dashboard (/home): </a:t>
            </a:r>
            <a:r>
              <a:rPr b="0">
                <a:solidFill>
                  <a:srgbClr val="1E293B"/>
                </a:solidFill>
              </a:rPr>
              <a:t>Next-day greeting, path completion progress bar, and 1-click 'Start Day 2' CTA.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Safe Next-Day Simulator: </a:t>
            </a:r>
            <a:r>
              <a:rPr b="0">
                <a:solidFill>
                  <a:srgbClr val="1E293B"/>
                </a:solidFill>
              </a:rPr>
              <a:t>Dedicated preview mode for evaluators without contaminating real D1 cohorts.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USER JOURNEY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Complete Lifecycle: From Day 0 Landing to Day 1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cohesive, low-friction funnel engineered to bridge initial curiosity into an active next-day learning routine.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Landing &amp; Onboarding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/ &amp; /onboarding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Value prop clarity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Role, goal, level input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Session cookie init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Zero drop-off wizard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187452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286000"/>
            <a:ext cx="1737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Curriculum Plan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/plan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Tailored 5-day track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Path overview &amp; objectives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1 focus highlighted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'Start Today' CTA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6944" y="187452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286000"/>
            <a:ext cx="1737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Interactive Lesson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/learn/today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5-min modular reading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Workplace example box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1-question quiz check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Instant ARIA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91640"/>
            <a:ext cx="2011680" cy="4663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1874520"/>
            <a:ext cx="1645920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286000"/>
            <a:ext cx="1737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Habit Hook &amp; Preview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/learn/complete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1 completion badge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Tomorrow's preview card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08:00 AM reminder capture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Local timezone stored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19488" y="1874520"/>
            <a:ext cx="1645920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286000"/>
            <a:ext cx="1737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Day 1 Re-Entry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/home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Returning greeting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20% progress indicator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Single-click Day 2 launch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Real D1 event recorded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UI &amp;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Live Prototype Walkthrough: Implemented &amp; Tested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Enterprise productivity aesthetic featuring semantic tokens, light/dark mode parity, and WCAG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874519"/>
            <a:ext cx="457200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LIGHT THEME — ONBOARDING &amp; DAILY READER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457200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[Interface Component: /learn/today]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Section 1: Framing AI Workflow Automation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💡 Practical Example: A product manager writes an acceptance criteria checklist using zero-shot prompting with explicit negative constraints.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Knowledge Check: Which prompt constraint best reduces hallucinations?</a:t>
            </a:r>
          </a:p>
          <a:p>
            <a:pPr>
              <a:spcBef>
                <a:spcPts val="400"/>
              </a:spcBef>
              <a:defRPr sz="950">
                <a:solidFill>
                  <a:srgbClr val="16A34A"/>
                </a:solidFill>
                <a:latin typeface="Arial"/>
              </a:defRPr>
            </a:pPr>
            <a:r>
              <a:t>● (✓ Correct) Ground prompts in verified context documents</a:t>
            </a:r>
            <a:br/>
            <a:r>
              <a:t>○ Ask the model to be 'very creative'</a:t>
            </a:r>
            <a:br/>
            <a:r>
              <a:t>○ Use maximum token output temperature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Verified: Instant ARIA status, accessible keyboard focus rings, zero FOUT.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874519"/>
            <a:ext cx="45720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93C5FD"/>
                </a:solidFill>
                <a:latin typeface="Arial"/>
              </a:defRPr>
            </a:pPr>
            <a:r>
              <a:t>DARK THEME — RETURNING DASHBOARD (/home)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331720"/>
            <a:ext cx="457200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60A5FA"/>
                </a:solidFill>
                <a:latin typeface="Arial"/>
              </a:defRPr>
            </a:pPr>
            <a:r>
              <a:t>[Interface Component: /home Dashboard]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Welcome back! Day 2 of 5 is ready.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Track: Product Manager Core • Progress: 1 of 5 completed (20%)</a:t>
            </a:r>
            <a:br/>
            <a:r>
              <a:t>Next Lesson: 'Evaluating AI PRDs &amp; Technical Specifications'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840480"/>
            <a:ext cx="40233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Start Day 2 Session (5 Mins) 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34840"/>
            <a:ext cx="42062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b="1">
                <a:solidFill>
                  <a:srgbClr val="93C5FD"/>
                </a:solidFill>
              </a:rPr>
              <a:t>Design System: </a:t>
            </a:r>
            <a:r>
              <a:rPr b="0">
                <a:solidFill>
                  <a:srgbClr val="94A3B8"/>
                </a:solidFill>
              </a:rPr>
              <a:t>Semantic tokens (bg-primary, text-muted, border-subtle)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b="1">
                <a:solidFill>
                  <a:srgbClr val="93C5FD"/>
                </a:solidFill>
              </a:rPr>
              <a:t>Theme Toggle: </a:t>
            </a:r>
            <a:r>
              <a:rPr b="0">
                <a:solidFill>
                  <a:srgbClr val="94A3B8"/>
                </a:solidFill>
              </a:rPr>
              <a:t>Instant switch via localStorage + system-theme detection script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b="1">
                <a:solidFill>
                  <a:srgbClr val="93C5FD"/>
                </a:solidFill>
              </a:rPr>
              <a:t>Contrast Check: </a:t>
            </a:r>
            <a:r>
              <a:rPr b="0">
                <a:solidFill>
                  <a:srgbClr val="94A3B8"/>
                </a:solidFill>
              </a:rPr>
              <a:t>WCAG AAA contrast on all body text across both modes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MEASUREMENT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Calendar-Day D1 Retention: Mathematical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We evaluate habit formation through a strict calendar-day D1 metric anchored to the initial session, excluding artificial previews.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1. STRICT COHORT ANCHOR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first_session_started: </a:t>
            </a:r>
            <a:r>
              <a:rPr b="0">
                <a:solidFill>
                  <a:srgbClr val="1E293B"/>
                </a:solidFill>
              </a:rPr>
              <a:t>Cohort date (Day 0) is locked to the user's initial onboarding session.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Idempotent Tracking: </a:t>
            </a:r>
            <a:r>
              <a:rPr b="0">
                <a:solidFill>
                  <a:srgbClr val="1E293B"/>
                </a:solidFill>
              </a:rPr>
              <a:t>Subsequent visits on Day 0 never overwrite or reset the anchor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7180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2. CALENDAR-DAY D1 WINDOW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Formula: </a:t>
            </a:r>
            <a:r>
              <a:rPr b="0">
                <a:solidFill>
                  <a:srgbClr val="1E293B"/>
                </a:solidFill>
              </a:rPr>
              <a:t>Date_return = Date_cohort + 1 calendar day in user timezone.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Rolling Windows Banned: </a:t>
            </a:r>
            <a:r>
              <a:rPr b="0">
                <a:solidFill>
                  <a:srgbClr val="1E293B"/>
                </a:solidFill>
              </a:rPr>
              <a:t>Avoids penalizing users returning early morning or rewarding hour 25 on Day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37560" cy="2011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7180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3. SIMULATION ISOLATION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demo_return_previewed: </a:t>
            </a:r>
            <a:r>
              <a:rPr b="0">
                <a:solidFill>
                  <a:srgbClr val="1E293B"/>
                </a:solidFill>
              </a:rPr>
              <a:t>Simulator sets temporary cookie only; never emits session_returned_d1.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Cohort Pollution: </a:t>
            </a:r>
            <a:r>
              <a:rPr b="0">
                <a:solidFill>
                  <a:srgbClr val="1E293B"/>
                </a:solidFill>
              </a:rPr>
              <a:t>Cohort metrics reflect 100% genuine calendar returns with zero demo contamination.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1014984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CALENDAR-DAY RETENTION EVENT TAXONOMY &amp; COMPLETENESS SPECIFICATION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Qualifying D1 Actions: </a:t>
            </a:r>
            <a:r>
              <a:rPr b="0">
                <a:solidFill>
                  <a:srgbClr val="1E293B"/>
                </a:solidFill>
              </a:rPr>
              <a:t>lesson_viewed, lesson_completed, plan_viewed, return_home_viewed occurring on Date_cohort + 1.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48-Hour Completeness Gate: </a:t>
            </a:r>
            <a:r>
              <a:rPr b="0">
                <a:solidFill>
                  <a:srgbClr val="1E293B"/>
                </a:solidFill>
              </a:rPr>
              <a:t>Cohorts remain flagged as 'Incomplete' until &gt;= 48 hours have elapsed (Date + 2) to ensure partial days never dilute retention rates.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Deterministic Timezone Normalization: </a:t>
            </a:r>
            <a:r>
              <a:rPr b="0">
                <a:solidFill>
                  <a:srgbClr val="1E293B"/>
                </a:solidFill>
              </a:rPr>
              <a:t>All calendar boundaries computed using the user's stored IANA timezone string (e.g., America/New_York).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Retention Rate Formula: </a:t>
            </a:r>
            <a:r>
              <a:rPr b="0">
                <a:solidFill>
                  <a:srgbClr val="1E293B"/>
                </a:solidFill>
              </a:rPr>
              <a:t>D1 Rate = (Unique users with qualifying event on Date_cohort + 1) / (Total cohort size on Date_cohort) *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GROWTH 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Controlled Experimentation: Proving the Re-Entry 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randomized controlled trial (RCT) isolating the retention impact of personalization, preview hooks, and reminders.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VARIANT A: CONTROL (Generic Baseline)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Onboarding: </a:t>
            </a:r>
            <a:r>
              <a:rPr b="0">
                <a:solidFill>
                  <a:srgbClr val="1E293B"/>
                </a:solidFill>
              </a:rPr>
              <a:t>Basic 1-question role selection; no goal or experience calibration.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Curriculum Track: </a:t>
            </a:r>
            <a:r>
              <a:rPr b="0">
                <a:solidFill>
                  <a:srgbClr val="1E293B"/>
                </a:solidFill>
              </a:rPr>
              <a:t>Generic, uncalibrated general AI overview curriculum.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Completion Screen: </a:t>
            </a:r>
            <a:r>
              <a:rPr b="0">
                <a:solidFill>
                  <a:srgbClr val="1E293B"/>
                </a:solidFill>
              </a:rPr>
              <a:t>Standard 'Lesson Complete' confirmation card.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Re-Entry Bridge: </a:t>
            </a:r>
            <a:r>
              <a:rPr b="0">
                <a:solidFill>
                  <a:srgbClr val="1E293B"/>
                </a:solidFill>
              </a:rPr>
              <a:t>NO tomorrow's lesson preview and NO reminder preference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20640" cy="2468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VARIANT B: TREATMENT (Unrot Daily Complete Loop)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Onboarding: </a:t>
            </a:r>
            <a:r>
              <a:rPr b="0">
                <a:solidFill>
                  <a:srgbClr val="1E293B"/>
                </a:solidFill>
              </a:rPr>
              <a:t>3-question role, goal, and familiarity calibration wizard.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Curriculum Track: </a:t>
            </a:r>
            <a:r>
              <a:rPr b="0">
                <a:solidFill>
                  <a:srgbClr val="1E293B"/>
                </a:solidFill>
              </a:rPr>
              <a:t>Role-tailored 5-day curriculum with workplace examples.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Completion Screen: </a:t>
            </a:r>
            <a:r>
              <a:rPr b="0">
                <a:solidFill>
                  <a:srgbClr val="1E293B"/>
                </a:solidFill>
              </a:rPr>
              <a:t>Accomplishment milestone + tomorrow's topic preview card.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Re-Entry Bridge: </a:t>
            </a:r>
            <a:r>
              <a:rPr b="0">
                <a:solidFill>
                  <a:srgbClr val="1E293B"/>
                </a:solidFill>
              </a:rPr>
              <a:t>Morning study hour reminder scheduling with auto-detected timezone.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4984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EXPERIMENT EVALUATION METRIC FRAMEWORK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Primary Metric: </a:t>
            </a:r>
            <a:r>
              <a:rPr b="0">
                <a:solidFill>
                  <a:srgbClr val="1E293B"/>
                </a:solidFill>
              </a:rPr>
              <a:t>Calendar-Day D1 Retention Rate across closed cohorts (&gt;= 48h elapsed).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Secondary Funnel Metrics: </a:t>
            </a:r>
            <a:r>
              <a:rPr b="0">
                <a:solidFill>
                  <a:srgbClr val="1E293B"/>
                </a:solidFill>
              </a:rPr>
              <a:t>Onboarding completion rate, Day 1 lesson quiz pass rate, reminder preference opt-in rate, Day 7 retention.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Guardrail Metrics: </a:t>
            </a:r>
            <a:r>
              <a:rPr b="0">
                <a:solidFill>
                  <a:srgbClr val="1E293B"/>
                </a:solidFill>
              </a:rPr>
              <a:t>Onboarding drop-off rate (ensuring 3 questions don't cause abandonment), reminder disable rate, client error rate.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Statistical Power Discipline: </a:t>
            </a:r>
            <a:r>
              <a:rPr b="0">
                <a:solidFill>
                  <a:srgbClr val="1E293B"/>
                </a:solidFill>
              </a:rPr>
              <a:t>Sample size and MDE (Minimum Detectable Effect) calculated pre-launch; no peeking or premature termination.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STRATEGIC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Five-Phase Growth Roadmap: From Prototype to Habit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disciplined expansion roadmap progressing from local validation to multi-channel delivery and enterprise team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17373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Core Habit MVP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Current -&gt; Q1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Migrate SQLite -&gt; PostgreSQL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Deploy OAuth / Magic Link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Launch live A/B experiment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Validate D1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44952" y="1874520"/>
            <a:ext cx="17373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286000"/>
            <a:ext cx="173736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Channel Delivery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Quarter 2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Email delivery via Resend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Web Push notifications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Timezone-scheduled cron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Delivery open/click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1224" y="1874520"/>
            <a:ext cx="17373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286000"/>
            <a:ext cx="173736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Streaks &amp; Content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Quarter 2 - Q3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Daily streak tracking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Weekly recap digests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Expand from 3 to 10 tracks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Community benchmark polls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91640"/>
            <a:ext cx="2011680" cy="4663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97496" y="1874520"/>
            <a:ext cx="1737360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286000"/>
            <a:ext cx="173736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Enterprise Teams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Quarter 3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Multi-tenant team workspaces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Manager literacy analytics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Slack &amp; MS Teams daily bots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Team retention cohorts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73768" y="1874520"/>
            <a:ext cx="173736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286000"/>
            <a:ext cx="173736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Custom Pathways</a:t>
            </a:r>
          </a:p>
          <a:p>
            <a:pPr>
              <a:spcAft>
                <a:spcPts val="1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Quarter 4+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Custom company curriculum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LMS / SCORM integrations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Enterprise API &amp; SSO (SAML)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Organizational 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ENGINEERING REALISM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Current Status, Technical 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fully functioning, rigorously tested prototype ready for production hardening and live experimentation.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PROVEN &amp; VERIFIED IN PROTOTYPE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35/35 Automated Tests: </a:t>
            </a:r>
            <a:r>
              <a:rPr b="0">
                <a:solidFill>
                  <a:srgbClr val="1E293B"/>
                </a:solidFill>
              </a:rPr>
              <a:t>Comprehensive unit and integration test suite passing with 100% reliability.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Lint / Clean Build: </a:t>
            </a:r>
            <a:r>
              <a:rPr b="0">
                <a:solidFill>
                  <a:srgbClr val="1E293B"/>
                </a:solidFill>
              </a:rPr>
              <a:t>ESLint passing with 0 warnings/errors; Next.js Turbopack compiles cleanly in 1.2s.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7 Active Routes Audited: </a:t>
            </a:r>
            <a:r>
              <a:rPr b="0">
                <a:solidFill>
                  <a:srgbClr val="1E293B"/>
                </a:solidFill>
              </a:rPr>
              <a:t>End-to-end user flows verified (/onboarding, /plan, /learn/today, /learn/complete, /home, /analytics).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Calendar D1 Engine: </a:t>
            </a:r>
            <a:r>
              <a:rPr b="0">
                <a:solidFill>
                  <a:srgbClr val="1E293B"/>
                </a:solidFill>
              </a:rPr>
              <a:t>Strict timezone-aware cohort partitioning excluding artificial demo simulations.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Dual Theme Parity: </a:t>
            </a:r>
            <a:r>
              <a:rPr b="0">
                <a:solidFill>
                  <a:srgbClr val="1E293B"/>
                </a:solidFill>
              </a:rPr>
              <a:t>Light and dark themes with WCAG AAA body contrast and zero flicker.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20640" cy="4663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TRANSPARENT LIMITATIONS &amp; PRE-LAUNCH PREREQUISITES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Database Architecture: </a:t>
            </a:r>
            <a:r>
              <a:rPr b="0">
                <a:solidFill>
                  <a:srgbClr val="1E293B"/>
                </a:solidFill>
              </a:rPr>
              <a:t>Currently local file-based SQLite; requires migration to hosted PostgreSQL (Supabase/Neon).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Authentication Layer: </a:t>
            </a:r>
            <a:r>
              <a:rPr b="0">
                <a:solidFill>
                  <a:srgbClr val="1E293B"/>
                </a:solidFill>
              </a:rPr>
              <a:t>Uses HTTP-only demo session cookie; requires enterprise OAuth / Magic Link.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Notification Dispatch: </a:t>
            </a:r>
            <a:r>
              <a:rPr b="0">
                <a:solidFill>
                  <a:srgbClr val="1E293B"/>
                </a:solidFill>
              </a:rPr>
              <a:t>Reminder preferences captured in SQLite; external email (Resend) and Web Push not yet active.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Analytics Pipeline: </a:t>
            </a:r>
            <a:r>
              <a:rPr b="0">
                <a:solidFill>
                  <a:srgbClr val="1E293B"/>
                </a:solidFill>
              </a:rPr>
              <a:t>Events stored locally; no external ingestion (PostHog/Mixpanel) configured yet.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Retention Lift Status: </a:t>
            </a:r>
            <a:r>
              <a:rPr b="0">
                <a:solidFill>
                  <a:srgbClr val="1E293B"/>
                </a:solidFill>
              </a:rPr>
              <a:t>Unproven scientific hypothesis; requires live sample sizing and RCT execution before claiming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